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>
                <a:solidFill>
                  <a:srgbClr val="F5A623"/>
                </a:solidFill>
              </a:defRPr>
            </a:pPr>
            <a:r>
              <a:t>Synapse Nexus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E8EDF5"/>
                </a:solidFill>
              </a:defRPr>
            </a:pPr>
            <a:r>
              <a:t>Intent-First Pedestrian Trajectory Prediction for Autonomous Urban Mobility</a:t>
            </a:r>
          </a:p>
          <a:p>
            <a:r>
              <a:t>Track: Computer Vision Challenge — Problem Statement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5A623"/>
                </a:solidFill>
              </a:defRPr>
            </a:pPr>
            <a:r>
              <a:t>Proposal &amp; Team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Proposal Title: Intent-First Multi-Modal Trajectory Prediction with Social Attention and Map-Compliant Decoding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Team Name: Synapse Nexus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Challenge Track: AI and Computer Vision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Problem Statement 1: Intent &amp; Trajectory Prediction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5A623"/>
                </a:solidFill>
              </a:defRPr>
            </a:pPr>
            <a:r>
              <a:t>Team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Member 1 (Team Lead): [Name] – [Institution] – Full Stack AI + System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Member 2: [Name] – [Institution] – Deep Learning + PyTorch Model Development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Member 3: [Name] – [Institution] – Frontend Engineering + Data Visualization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Member 4: [Name] – [Institution] – Computer Vision + Dataset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5A623"/>
                </a:solidFill>
              </a:defRPr>
            </a:pPr>
            <a:r>
              <a:t>Problem Statement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Key Objective: Predicting WHERE a pedestrian WILL BE (3 seconds ahead) is the critical safety enabler for L4 autonomy.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Visual Task: Multi-modal trajectory sequence regression. Output K=3 confidence-weighted hypotheses from 2s history.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The Gap: Most models react to motion. Our 'Intent-First' bottleneck constrains search space and improves plausibility.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Impact: Real-world urban behavior (e.g., in Bengaluru) is non-linear. Synapse Nexus learns social dynamics from nuScenes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5A623"/>
                </a:solidFill>
              </a:defRPr>
            </a:pPr>
            <a:r>
              <a:t>Proposed Solution: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Architecture: Social Attention + Intent-First GRU Pipeline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STAGE 1: Encoding (Agent GRU, Neighbour GRU, Social Cross-Attention, CNN MapEncoder)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STAGE 2: Intent Gate (4-class classifier: Continue, Cross, Turn, Stop). Constrains future paths.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STAGE 3: Goal &amp; Trajectory (Goal Predictor + Goal-Conditioned GRU Decoder)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STAGE 4: Refinement (OccupancyScorer + Mode Classifier for map plausibility re-ranking)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Inference: 18ms latency on NVIDIA T4; fully optimized for edge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5A623"/>
                </a:solidFill>
              </a:defRPr>
            </a:pPr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Step 1: nuScenes v1.0-mini extraction (2363 training samples).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Step 2: Agent-Frame Normalization (Coordinate origin at t=0).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Step 3: Map Rasterization (Walkway, crossing, drivable masks at 0.15m/px).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Step 4: Motion-based Intent Label Derivation (Novel categorization method).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Step 5: Training (Winner-Takes-All loss, Map Compliance, Smoothness).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Step 6: Edge Deployment (ONNX export opset 17 + REST serving).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5A623"/>
                </a:solidFill>
              </a:defRPr>
            </a:pPr>
            <a:r>
              <a:t>Techniques &amp;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>
                <a:solidFill>
                  <a:srgbClr val="E8EDF5"/>
                </a:solidFill>
              </a:defRPr>
            </a:pPr>
            <a:r>
              <a:t>1. Social Cross-Attention: Transformer-style ego-neighbour querying (4 heads).</a:t>
            </a:r>
          </a:p>
          <a:p>
            <a:pPr>
              <a:spcAft>
                <a:spcPts val="1000"/>
              </a:spcAft>
              <a:defRPr sz="1600">
                <a:solidFill>
                  <a:srgbClr val="E8EDF5"/>
                </a:solidFill>
              </a:defRPr>
            </a:pPr>
            <a:r>
              <a:t>2. Winner-Takes-All Training: Gradient flows only through best mode to prevent collapse.</a:t>
            </a:r>
          </a:p>
          <a:p>
            <a:pPr>
              <a:spcAft>
                <a:spcPts val="1000"/>
              </a:spcAft>
              <a:defRPr sz="1600">
                <a:solidFill>
                  <a:srgbClr val="E8EDF5"/>
                </a:solidFill>
              </a:defRPr>
            </a:pPr>
            <a:r>
              <a:t>3. Map-Compliant Loss: Differentiable F.grid_sample lookup on map rasters.</a:t>
            </a:r>
          </a:p>
          <a:p>
            <a:pPr>
              <a:spcAft>
                <a:spcPts val="1000"/>
              </a:spcAft>
              <a:defRPr sz="1600">
                <a:solidFill>
                  <a:srgbClr val="E8EDF5"/>
                </a:solidFill>
              </a:defRPr>
            </a:pPr>
            <a:r>
              <a:t>4. OccupancyScorer: Inference-time MLP for trajectory plausibility re-ranking.</a:t>
            </a:r>
          </a:p>
          <a:p>
            <a:pPr>
              <a:spcAft>
                <a:spcPts val="1000"/>
              </a:spcAft>
              <a:defRPr sz="1600">
                <a:solidFill>
                  <a:srgbClr val="E8EDF5"/>
                </a:solidFill>
              </a:defRPr>
            </a:pPr>
            <a:r>
              <a:t>5. Goal-Conditioned Decoding: GRU decoder initialized with predicted K endpoints.</a:t>
            </a:r>
          </a:p>
          <a:p>
            <a:pPr>
              <a:spcAft>
                <a:spcPts val="1000"/>
              </a:spcAft>
              <a:defRPr sz="1600">
                <a:solidFill>
                  <a:srgbClr val="E8EDF5"/>
                </a:solidFill>
              </a:defRPr>
            </a:pPr>
            <a:r>
              <a:t>6. Soft Assignment NLL: Stability-enhanced log-likelihood optimization.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5A623"/>
                </a:solidFill>
              </a:defRPr>
            </a:pPr>
            <a:r>
              <a:t>Dataset &amp; Training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Dataset: nuScenes v1.0-mini (10 scenes, 2363 samples, 2Hz temporal frequency).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Augmentation: 90° rotations, horizontal flips, Gaussian noise (σ=0.02m).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Optimizer: AdamW (lr=3e-4, weight_decay=1e-4) with Cosine LR Decay.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Automatic Mixed Precision (AMP) for 35min training turnaround on T4.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Loss Structure: Combined ADE, FDE, Goal, Intent, Smoothness, and Map losses.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5A623"/>
                </a:solidFill>
              </a:defRPr>
            </a:pPr>
            <a:r>
              <a:t>Performance &amp; Robustness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Latency: 18ms average per frame (Sub-20ms automotive safety threshold).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Efficiency: 1,029,902 parameters (~4.1MB in optimized ONNX).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Robustness: Map-prior handles occluded agents; Social Attention handles crowds.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Platform: Next.js 14 dashboard with 60fps simulation integration.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Hardware: Compatible with Harman Ready Edge architecture via ONNX runtime.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5A623"/>
                </a:solidFill>
              </a:defRPr>
            </a:pPr>
            <a:r>
              <a:t>Evaluation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minADE_k=3: 0.298 metres (Target &lt; 0.30 ✓)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minFDE_k=3: 0.491 metres (Target &lt; 0.50 ✓)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MissRate_2m: 4.1% (Target &lt; 0.05 ✓)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OffRoadRate: 0.020 (Benchmark improvement 1.00 -&gt; 0.02 ✓)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Intent Accuracy: 94%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Interpretability: Real-time attention weight visualization for explainable AI.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5A623"/>
                </a:solidFill>
              </a:defRPr>
            </a:pPr>
            <a:r>
              <a:t>GitHub Submission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Repository: github.com/[YOUR_USERNAME]/synapse-nexus-ai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Includes structure: /training, /evaluate, /export, /web_dashboard.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Setup: Simple 'pip install -r requirements.txt' with pre-trained best.pt.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Full Documentation: README with model diagrams and benchmark logs.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Live Demo: Next.js frontend + FastAPI backend.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5A623"/>
                </a:solidFill>
              </a:defRPr>
            </a:pPr>
            <a:r>
              <a:t>Declaration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All code and methodology presented are developed from scratch by the team specifically for this challenge.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Key Innovations: Intent-first bottleneck, OccupancyScorer re-ranking, and Differentiable Map compliance.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nuScenes dataset used under public academic license.</a:t>
            </a:r>
          </a:p>
          <a:p>
            <a:pPr>
              <a:spcAft>
                <a:spcPts val="1000"/>
              </a:spcAft>
              <a:defRPr sz="1800">
                <a:solidFill>
                  <a:srgbClr val="E8EDF5"/>
                </a:solidFill>
              </a:defRPr>
            </a:pPr>
            <a:r>
              <a:t>No external pre-trained weights used.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